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1" r:id="rId4"/>
    <p:sldId id="258" r:id="rId5"/>
    <p:sldId id="259" r:id="rId6"/>
    <p:sldId id="260" r:id="rId7"/>
    <p:sldId id="263" r:id="rId8"/>
    <p:sldId id="264" r:id="rId9"/>
    <p:sldId id="265" r:id="rId10"/>
    <p:sldId id="266" r:id="rId11"/>
    <p:sldId id="267" r:id="rId12"/>
    <p:sldId id="262"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68" d="100"/>
          <a:sy n="68" d="100"/>
        </p:scale>
        <p:origin x="9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16-10-2026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16-10-2026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16-10-2026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16-10-2026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16-10-2026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16-10-2026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16-10-2026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16-10-2026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16-10-2026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16-10-2026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p:txBody>
          <a:bodyPr>
            <a:normAutofit/>
          </a:bodyPr>
          <a:lstStyle/>
          <a:p>
            <a:r>
              <a:rPr lang="en-IN" sz="4400" dirty="0">
                <a:latin typeface="Calibri" panose="020F0502020204030204" pitchFamily="34" charset="0"/>
                <a:ea typeface="Calibri" panose="020F0502020204030204" pitchFamily="34" charset="0"/>
                <a:cs typeface="Calibri" panose="020F0502020204030204" pitchFamily="34" charset="0"/>
              </a:rPr>
              <a:t>COMMUNITY LIBRARY MANAGEMENT SYSTEM</a:t>
            </a:r>
            <a:br>
              <a:rPr lang="en-IN" dirty="0"/>
            </a:br>
            <a:r>
              <a:rPr lang="en-IN" sz="4400" dirty="0"/>
              <a:t>Team No -1</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a:xfrm>
            <a:off x="2002972" y="3667353"/>
            <a:ext cx="9144000" cy="1655762"/>
          </a:xfrm>
        </p:spPr>
        <p:txBody>
          <a:bodyPr/>
          <a:lstStyle/>
          <a:p>
            <a:pPr algn="l"/>
            <a:r>
              <a:rPr lang="en-IN" dirty="0">
                <a:latin typeface="Calibri" panose="020F0502020204030204" pitchFamily="34" charset="0"/>
                <a:ea typeface="Calibri" panose="020F0502020204030204" pitchFamily="34" charset="0"/>
                <a:cs typeface="Calibri" panose="020F0502020204030204" pitchFamily="34" charset="0"/>
              </a:rPr>
              <a:t>Student Name : I. Deekshitha           	  Roll No: 2620040021</a:t>
            </a:r>
          </a:p>
          <a:p>
            <a:pPr algn="l"/>
            <a:r>
              <a:rPr lang="en-IN" dirty="0">
                <a:latin typeface="Calibri" panose="020F0502020204030204" pitchFamily="34" charset="0"/>
                <a:ea typeface="Calibri" panose="020F0502020204030204" pitchFamily="34" charset="0"/>
                <a:cs typeface="Calibri" panose="020F0502020204030204" pitchFamily="34" charset="0"/>
              </a:rPr>
              <a:t>Student Name : S . Kavya	               Roll No: 2620040022</a:t>
            </a:r>
          </a:p>
          <a:p>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16-10-2026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a:xfrm>
            <a:off x="414866" y="595651"/>
            <a:ext cx="10515600" cy="1325563"/>
          </a:xfrm>
        </p:spPr>
        <p:txBody>
          <a:bodyPr/>
          <a:lstStyle/>
          <a:p>
            <a:r>
              <a:rPr lang="en-IN" b="1" dirty="0"/>
              <a:t>Abstract</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16-10-2026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
        <p:nvSpPr>
          <p:cNvPr id="8" name="TextBox 7">
            <a:extLst>
              <a:ext uri="{FF2B5EF4-FFF2-40B4-BE49-F238E27FC236}">
                <a16:creationId xmlns:a16="http://schemas.microsoft.com/office/drawing/2014/main" id="{F4EE183A-7450-CBD2-EB5F-A97844A3211A}"/>
              </a:ext>
            </a:extLst>
          </p:cNvPr>
          <p:cNvSpPr txBox="1"/>
          <p:nvPr/>
        </p:nvSpPr>
        <p:spPr>
          <a:xfrm>
            <a:off x="414866" y="1557868"/>
            <a:ext cx="11209867" cy="4199611"/>
          </a:xfrm>
          <a:prstGeom prst="rect">
            <a:avLst/>
          </a:prstGeom>
          <a:noFill/>
        </p:spPr>
        <p:txBody>
          <a:bodyPr wrap="square" rtlCol="0">
            <a:spAutoFit/>
          </a:bodyPr>
          <a:lstStyle/>
          <a:p>
            <a:pPr algn="just">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The Community Library Management System on Campus is a Java-based application designed to simplify library operations by replacing manual record keeping with an organized and efficient system. It helps manage books, student details, book searches, issuing and returning books, and borrowing records.</a:t>
            </a:r>
          </a:p>
          <a:p>
            <a:pPr algn="just">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The system uses Java concepts such as classes, objects, methods, loops, conditional statements, arrays or collections, and exception handling. It reduces paperwork, minimizes errors, saves time, and improves book availability tracking.</a:t>
            </a:r>
          </a:p>
          <a:p>
            <a:pPr algn="just">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Overall, the system makes library management easier for students and administrators. It can be further improved by adding database connectivity, user authentication, fine calculation, notifications, and online book reservations.</a:t>
            </a:r>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a:xfrm>
            <a:off x="448733" y="915458"/>
            <a:ext cx="10515600" cy="1325563"/>
          </a:xfrm>
        </p:spPr>
        <p:txBody>
          <a:bodyPr/>
          <a:lstStyle/>
          <a:p>
            <a:r>
              <a:rPr lang="en-IN" b="1" dirty="0"/>
              <a:t>Understanding Problem Statement</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
        <p:nvSpPr>
          <p:cNvPr id="6" name="TextBox 5">
            <a:extLst>
              <a:ext uri="{FF2B5EF4-FFF2-40B4-BE49-F238E27FC236}">
                <a16:creationId xmlns:a16="http://schemas.microsoft.com/office/drawing/2014/main" id="{BAD4CCD7-553B-3E5E-1830-CC550D3E12BC}"/>
              </a:ext>
            </a:extLst>
          </p:cNvPr>
          <p:cNvSpPr txBox="1"/>
          <p:nvPr/>
        </p:nvSpPr>
        <p:spPr>
          <a:xfrm>
            <a:off x="448733" y="1964266"/>
            <a:ext cx="11294533" cy="1429622"/>
          </a:xfrm>
          <a:prstGeom prst="rect">
            <a:avLst/>
          </a:prstGeom>
          <a:noFill/>
        </p:spPr>
        <p:txBody>
          <a:bodyPr wrap="square" rtlCol="0">
            <a:spAutoFit/>
          </a:bodyPr>
          <a:lstStyle/>
          <a:p>
            <a:pPr>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Community libraries need to manage book records, member details, and borrowing activity. Manual record-keeping can make it difficult to find books, check availability, and track loans and returns. Our Java system helps organize these library tasks in one place.</a:t>
            </a:r>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254000" y="473942"/>
            <a:ext cx="10515600" cy="1325563"/>
          </a:xfrm>
        </p:spPr>
        <p:txBody>
          <a:bodyPr>
            <a:normAutofit/>
          </a:bodyPr>
          <a:lstStyle/>
          <a:p>
            <a:r>
              <a:rPr lang="en-IN" sz="4000" b="1" dirty="0"/>
              <a:t>CO 1 – JAVA FOUNDATIONS</a:t>
            </a:r>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16-10-2026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sp>
        <p:nvSpPr>
          <p:cNvPr id="7" name="TextBox 6">
            <a:extLst>
              <a:ext uri="{FF2B5EF4-FFF2-40B4-BE49-F238E27FC236}">
                <a16:creationId xmlns:a16="http://schemas.microsoft.com/office/drawing/2014/main" id="{D61793DD-7C97-2910-684A-8E3BDC2AD536}"/>
              </a:ext>
            </a:extLst>
          </p:cNvPr>
          <p:cNvSpPr txBox="1"/>
          <p:nvPr/>
        </p:nvSpPr>
        <p:spPr>
          <a:xfrm>
            <a:off x="321733" y="1494705"/>
            <a:ext cx="11974770" cy="1295868"/>
          </a:xfrm>
          <a:prstGeom prst="rect">
            <a:avLst/>
          </a:prstGeom>
          <a:noFill/>
        </p:spPr>
        <p:txBody>
          <a:bodyPr wrap="square">
            <a:spAutoFit/>
          </a:bodyPr>
          <a:lstStyle/>
          <a:p>
            <a:pPr>
              <a:lnSpc>
                <a:spcPct val="150000"/>
              </a:lnSpc>
            </a:pPr>
            <a:r>
              <a:rPr lang="en-IN" dirty="0">
                <a:latin typeface="Calibri" panose="020F0502020204030204" pitchFamily="34" charset="0"/>
                <a:ea typeface="Calibri" panose="020F0502020204030204" pitchFamily="34" charset="0"/>
                <a:cs typeface="Calibri" panose="020F0502020204030204" pitchFamily="34" charset="0"/>
              </a:rPr>
              <a:t>Our project applies Java basics through its program structure and library menu. It uses primitive data types, variables, constants, operators, and arrays to store and process book information. Scanner accepts user input, while </a:t>
            </a:r>
            <a:r>
              <a:rPr lang="en-IN" dirty="0" err="1">
                <a:latin typeface="Calibri" panose="020F0502020204030204" pitchFamily="34" charset="0"/>
                <a:ea typeface="Calibri" panose="020F0502020204030204" pitchFamily="34" charset="0"/>
                <a:cs typeface="Calibri" panose="020F0502020204030204" pitchFamily="34" charset="0"/>
              </a:rPr>
              <a:t>printf</a:t>
            </a:r>
            <a:r>
              <a:rPr lang="en-IN" dirty="0">
                <a:latin typeface="Calibri" panose="020F0502020204030204" pitchFamily="34" charset="0"/>
                <a:ea typeface="Calibri" panose="020F0502020204030204" pitchFamily="34" charset="0"/>
                <a:cs typeface="Calibri" panose="020F0502020204030204" pitchFamily="34" charset="0"/>
              </a:rPr>
              <a:t> formats output. The program uses if/else, switch, loops, break, and a 2D array to manage borrowing records.</a:t>
            </a:r>
          </a:p>
        </p:txBody>
      </p:sp>
      <p:pic>
        <p:nvPicPr>
          <p:cNvPr id="9" name="Picture 8">
            <a:extLst>
              <a:ext uri="{FF2B5EF4-FFF2-40B4-BE49-F238E27FC236}">
                <a16:creationId xmlns:a16="http://schemas.microsoft.com/office/drawing/2014/main" id="{753D99BD-3B8F-9B54-4E2B-0EFA62A7D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4653" y="3105754"/>
            <a:ext cx="3840665" cy="2935414"/>
          </a:xfrm>
          <a:prstGeom prst="rect">
            <a:avLst/>
          </a:prstGeom>
        </p:spPr>
      </p:pic>
      <p:pic>
        <p:nvPicPr>
          <p:cNvPr id="11" name="Picture 10">
            <a:extLst>
              <a:ext uri="{FF2B5EF4-FFF2-40B4-BE49-F238E27FC236}">
                <a16:creationId xmlns:a16="http://schemas.microsoft.com/office/drawing/2014/main" id="{61D529F6-EC3E-305F-692B-359028D2A3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8267" y="3105754"/>
            <a:ext cx="3657600" cy="2903336"/>
          </a:xfrm>
          <a:prstGeom prst="rect">
            <a:avLst/>
          </a:prstGeom>
        </p:spPr>
      </p:pic>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a:xfrm>
            <a:off x="211667" y="585258"/>
            <a:ext cx="10515600" cy="1325563"/>
          </a:xfrm>
        </p:spPr>
        <p:txBody>
          <a:bodyPr>
            <a:normAutofit/>
          </a:bodyPr>
          <a:lstStyle/>
          <a:p>
            <a:r>
              <a:rPr lang="en-IN" sz="4000" b="1" dirty="0"/>
              <a:t>CO 2 – CONTROL FLOW</a:t>
            </a:r>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16-10-2026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5</a:t>
            </a:fld>
            <a:endParaRPr lang="en-IN"/>
          </a:p>
        </p:txBody>
      </p:sp>
      <p:sp>
        <p:nvSpPr>
          <p:cNvPr id="8" name="TextBox 7">
            <a:extLst>
              <a:ext uri="{FF2B5EF4-FFF2-40B4-BE49-F238E27FC236}">
                <a16:creationId xmlns:a16="http://schemas.microsoft.com/office/drawing/2014/main" id="{94EC36AC-98C8-AFDC-4091-F21857B303B4}"/>
              </a:ext>
            </a:extLst>
          </p:cNvPr>
          <p:cNvSpPr txBox="1"/>
          <p:nvPr/>
        </p:nvSpPr>
        <p:spPr>
          <a:xfrm>
            <a:off x="259291" y="1545503"/>
            <a:ext cx="11932709" cy="1295868"/>
          </a:xfrm>
          <a:prstGeom prst="rect">
            <a:avLst/>
          </a:prstGeom>
          <a:noFill/>
        </p:spPr>
        <p:txBody>
          <a:bodyPr wrap="square">
            <a:spAutoFit/>
          </a:bodyPr>
          <a:lstStyle/>
          <a:p>
            <a:pPr>
              <a:lnSpc>
                <a:spcPct val="150000"/>
              </a:lnSpc>
            </a:pPr>
            <a:r>
              <a:rPr lang="en-IN" dirty="0">
                <a:latin typeface="Calibri" panose="020F0502020204030204" pitchFamily="34" charset="0"/>
                <a:ea typeface="Calibri" panose="020F0502020204030204" pitchFamily="34" charset="0"/>
                <a:cs typeface="Calibri" panose="020F0502020204030204" pitchFamily="34" charset="0"/>
              </a:rPr>
              <a:t>Our project uses control flow to run the library menu and handle each user choice. A do-while loop repeats the menu until the user exits. switch-case selects the requested operation, while if/else checks input and borrowing status. for and nested for loops process book and borrowing records, and break and default handle menu cases and invalid choices.</a:t>
            </a:r>
          </a:p>
        </p:txBody>
      </p:sp>
      <p:sp>
        <p:nvSpPr>
          <p:cNvPr id="9" name="TextBox 8">
            <a:extLst>
              <a:ext uri="{FF2B5EF4-FFF2-40B4-BE49-F238E27FC236}">
                <a16:creationId xmlns:a16="http://schemas.microsoft.com/office/drawing/2014/main" id="{35E30734-E286-7ACA-E4DD-143975001D76}"/>
              </a:ext>
            </a:extLst>
          </p:cNvPr>
          <p:cNvSpPr txBox="1"/>
          <p:nvPr/>
        </p:nvSpPr>
        <p:spPr>
          <a:xfrm>
            <a:off x="259291" y="2912645"/>
            <a:ext cx="4953000" cy="338554"/>
          </a:xfrm>
          <a:prstGeom prst="rect">
            <a:avLst/>
          </a:prstGeom>
          <a:noFill/>
        </p:spPr>
        <p:txBody>
          <a:bodyPr wrap="square" rtlCol="0">
            <a:spAutoFit/>
          </a:bodyPr>
          <a:lstStyle/>
          <a:p>
            <a:pPr marL="285750" indent="-285750">
              <a:buFont typeface="Arial" panose="020B0604020202020204" pitchFamily="34" charset="0"/>
              <a:buChar char="•"/>
            </a:pPr>
            <a:r>
              <a:rPr lang="en-US" sz="1600" b="1" dirty="0"/>
              <a:t>Do-while menu and switch case</a:t>
            </a:r>
            <a:endParaRPr lang="en-IN" sz="1600" b="1" dirty="0"/>
          </a:p>
        </p:txBody>
      </p:sp>
      <p:pic>
        <p:nvPicPr>
          <p:cNvPr id="12" name="Picture 11">
            <a:extLst>
              <a:ext uri="{FF2B5EF4-FFF2-40B4-BE49-F238E27FC236}">
                <a16:creationId xmlns:a16="http://schemas.microsoft.com/office/drawing/2014/main" id="{D80E071A-94C6-41DE-E7C0-B35793B3BB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667" y="3322473"/>
            <a:ext cx="2336799" cy="1758476"/>
          </a:xfrm>
          <a:prstGeom prst="rect">
            <a:avLst/>
          </a:prstGeom>
        </p:spPr>
      </p:pic>
      <p:pic>
        <p:nvPicPr>
          <p:cNvPr id="14" name="Picture 13">
            <a:extLst>
              <a:ext uri="{FF2B5EF4-FFF2-40B4-BE49-F238E27FC236}">
                <a16:creationId xmlns:a16="http://schemas.microsoft.com/office/drawing/2014/main" id="{316F6D05-5053-BCE2-30BE-D748BEE84B67}"/>
              </a:ext>
            </a:extLst>
          </p:cNvPr>
          <p:cNvPicPr>
            <a:picLocks noChangeAspect="1"/>
          </p:cNvPicPr>
          <p:nvPr/>
        </p:nvPicPr>
        <p:blipFill>
          <a:blip r:embed="rId3"/>
          <a:stretch>
            <a:fillRect/>
          </a:stretch>
        </p:blipFill>
        <p:spPr>
          <a:xfrm>
            <a:off x="2735791" y="3322472"/>
            <a:ext cx="2177263" cy="1758477"/>
          </a:xfrm>
          <a:prstGeom prst="rect">
            <a:avLst/>
          </a:prstGeom>
        </p:spPr>
      </p:pic>
      <p:sp>
        <p:nvSpPr>
          <p:cNvPr id="15" name="TextBox 14">
            <a:extLst>
              <a:ext uri="{FF2B5EF4-FFF2-40B4-BE49-F238E27FC236}">
                <a16:creationId xmlns:a16="http://schemas.microsoft.com/office/drawing/2014/main" id="{0DDC9D0C-11E8-8A96-19BD-F15ED70667FB}"/>
              </a:ext>
            </a:extLst>
          </p:cNvPr>
          <p:cNvSpPr txBox="1"/>
          <p:nvPr/>
        </p:nvSpPr>
        <p:spPr>
          <a:xfrm>
            <a:off x="5469467" y="2875349"/>
            <a:ext cx="1013226" cy="338554"/>
          </a:xfrm>
          <a:prstGeom prst="rect">
            <a:avLst/>
          </a:prstGeom>
          <a:noFill/>
        </p:spPr>
        <p:txBody>
          <a:bodyPr wrap="none" rtlCol="0">
            <a:spAutoFit/>
          </a:bodyPr>
          <a:lstStyle/>
          <a:p>
            <a:pPr marL="285750"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If/else</a:t>
            </a: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pic>
        <p:nvPicPr>
          <p:cNvPr id="17" name="Picture 16">
            <a:extLst>
              <a:ext uri="{FF2B5EF4-FFF2-40B4-BE49-F238E27FC236}">
                <a16:creationId xmlns:a16="http://schemas.microsoft.com/office/drawing/2014/main" id="{62FE7BE3-45B3-9032-1931-DCA8F037E693}"/>
              </a:ext>
            </a:extLst>
          </p:cNvPr>
          <p:cNvPicPr>
            <a:picLocks noChangeAspect="1"/>
          </p:cNvPicPr>
          <p:nvPr/>
        </p:nvPicPr>
        <p:blipFill>
          <a:blip r:embed="rId4"/>
          <a:stretch>
            <a:fillRect/>
          </a:stretch>
        </p:blipFill>
        <p:spPr>
          <a:xfrm>
            <a:off x="5212291" y="3322472"/>
            <a:ext cx="2904066" cy="1597135"/>
          </a:xfrm>
          <a:prstGeom prst="rect">
            <a:avLst/>
          </a:prstGeom>
        </p:spPr>
      </p:pic>
      <p:sp>
        <p:nvSpPr>
          <p:cNvPr id="18" name="TextBox 17">
            <a:extLst>
              <a:ext uri="{FF2B5EF4-FFF2-40B4-BE49-F238E27FC236}">
                <a16:creationId xmlns:a16="http://schemas.microsoft.com/office/drawing/2014/main" id="{E805D3FA-9B21-EE65-FA70-F8FBABA627AB}"/>
              </a:ext>
            </a:extLst>
          </p:cNvPr>
          <p:cNvSpPr txBox="1"/>
          <p:nvPr/>
        </p:nvSpPr>
        <p:spPr>
          <a:xfrm>
            <a:off x="8711756" y="2912644"/>
            <a:ext cx="2540888" cy="338554"/>
          </a:xfrm>
          <a:prstGeom prst="rect">
            <a:avLst/>
          </a:prstGeom>
          <a:noFill/>
        </p:spPr>
        <p:txBody>
          <a:bodyPr wrap="none" rtlCol="0">
            <a:spAutoFit/>
          </a:bodyPr>
          <a:lstStyle/>
          <a:p>
            <a:pPr marL="285750"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For and nested for loops</a:t>
            </a: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pic>
        <p:nvPicPr>
          <p:cNvPr id="20" name="Picture 19">
            <a:extLst>
              <a:ext uri="{FF2B5EF4-FFF2-40B4-BE49-F238E27FC236}">
                <a16:creationId xmlns:a16="http://schemas.microsoft.com/office/drawing/2014/main" id="{58A41E28-E53F-D940-A12F-66D483C7DDF9}"/>
              </a:ext>
            </a:extLst>
          </p:cNvPr>
          <p:cNvPicPr>
            <a:picLocks noChangeAspect="1"/>
          </p:cNvPicPr>
          <p:nvPr/>
        </p:nvPicPr>
        <p:blipFill>
          <a:blip r:embed="rId5"/>
          <a:stretch>
            <a:fillRect/>
          </a:stretch>
        </p:blipFill>
        <p:spPr>
          <a:xfrm>
            <a:off x="8339797" y="3394080"/>
            <a:ext cx="3555869" cy="1409694"/>
          </a:xfrm>
          <a:prstGeom prst="rect">
            <a:avLst/>
          </a:prstGeom>
        </p:spPr>
      </p:pic>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220133" y="542925"/>
            <a:ext cx="10515600" cy="1325563"/>
          </a:xfrm>
        </p:spPr>
        <p:txBody>
          <a:bodyPr>
            <a:normAutofit/>
          </a:bodyPr>
          <a:lstStyle/>
          <a:p>
            <a:r>
              <a:rPr lang="en-IN" sz="3600" b="1" dirty="0"/>
              <a:t>CO 3 – Methods, Searching, Sorting and Arrays</a:t>
            </a:r>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16-10-2026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6</a:t>
            </a:fld>
            <a:endParaRPr lang="en-IN"/>
          </a:p>
        </p:txBody>
      </p:sp>
      <p:sp>
        <p:nvSpPr>
          <p:cNvPr id="7" name="TextBox 6">
            <a:extLst>
              <a:ext uri="{FF2B5EF4-FFF2-40B4-BE49-F238E27FC236}">
                <a16:creationId xmlns:a16="http://schemas.microsoft.com/office/drawing/2014/main" id="{EF2763F9-83E2-4DA5-7D4F-1FC298A256EC}"/>
              </a:ext>
            </a:extLst>
          </p:cNvPr>
          <p:cNvSpPr txBox="1"/>
          <p:nvPr/>
        </p:nvSpPr>
        <p:spPr>
          <a:xfrm>
            <a:off x="220133" y="1511637"/>
            <a:ext cx="11700935" cy="1503425"/>
          </a:xfrm>
          <a:prstGeom prst="rect">
            <a:avLst/>
          </a:prstGeom>
          <a:noFill/>
        </p:spPr>
        <p:txBody>
          <a:bodyPr wrap="square">
            <a:spAutoFit/>
          </a:bodyPr>
          <a:lstStyle/>
          <a:p>
            <a:pPr>
              <a:lnSpc>
                <a:spcPct val="200000"/>
              </a:lnSpc>
            </a:pPr>
            <a:r>
              <a:rPr lang="en-IN" sz="1600" dirty="0"/>
              <a:t>Our project uses methods to organize library tasks. Methods accept parameters and return results; for example, </a:t>
            </a:r>
            <a:r>
              <a:rPr lang="en-IN" sz="1600" dirty="0" err="1">
                <a:latin typeface="+mn-lt"/>
              </a:rPr>
              <a:t>searchBook</a:t>
            </a:r>
            <a:r>
              <a:rPr lang="en-IN" sz="1600" dirty="0">
                <a:latin typeface="+mn-lt"/>
              </a:rPr>
              <a:t>()</a:t>
            </a:r>
            <a:r>
              <a:rPr lang="en-IN" sz="1600" dirty="0"/>
              <a:t> searches for a title and returns its position. The overloaded </a:t>
            </a:r>
            <a:r>
              <a:rPr lang="en-IN" sz="1600" dirty="0" err="1">
                <a:latin typeface="+mn-lt"/>
              </a:rPr>
              <a:t>showMessage</a:t>
            </a:r>
            <a:r>
              <a:rPr lang="en-IN" sz="1600" dirty="0">
                <a:latin typeface="+mn-lt"/>
              </a:rPr>
              <a:t>()</a:t>
            </a:r>
            <a:r>
              <a:rPr lang="en-IN" sz="1600" dirty="0"/>
              <a:t> methods display messages in different ways. The project also traverses arrays, sorts books by year, and uses nested loops to display the 2D borrowing records.</a:t>
            </a:r>
          </a:p>
        </p:txBody>
      </p:sp>
      <p:pic>
        <p:nvPicPr>
          <p:cNvPr id="9" name="Picture 8">
            <a:extLst>
              <a:ext uri="{FF2B5EF4-FFF2-40B4-BE49-F238E27FC236}">
                <a16:creationId xmlns:a16="http://schemas.microsoft.com/office/drawing/2014/main" id="{6F9B4F8D-8F85-CB0C-CEDD-4086F3DD7501}"/>
              </a:ext>
            </a:extLst>
          </p:cNvPr>
          <p:cNvPicPr>
            <a:picLocks noChangeAspect="1"/>
          </p:cNvPicPr>
          <p:nvPr/>
        </p:nvPicPr>
        <p:blipFill>
          <a:blip r:embed="rId2"/>
          <a:stretch>
            <a:fillRect/>
          </a:stretch>
        </p:blipFill>
        <p:spPr>
          <a:xfrm>
            <a:off x="838200" y="3231378"/>
            <a:ext cx="3949542" cy="2578860"/>
          </a:xfrm>
          <a:prstGeom prst="rect">
            <a:avLst/>
          </a:prstGeom>
        </p:spPr>
      </p:pic>
      <p:pic>
        <p:nvPicPr>
          <p:cNvPr id="11" name="Picture 10">
            <a:extLst>
              <a:ext uri="{FF2B5EF4-FFF2-40B4-BE49-F238E27FC236}">
                <a16:creationId xmlns:a16="http://schemas.microsoft.com/office/drawing/2014/main" id="{88781719-EBBD-0F98-E140-62FEDCCC5525}"/>
              </a:ext>
            </a:extLst>
          </p:cNvPr>
          <p:cNvPicPr>
            <a:picLocks noChangeAspect="1"/>
          </p:cNvPicPr>
          <p:nvPr/>
        </p:nvPicPr>
        <p:blipFill>
          <a:blip r:embed="rId3"/>
          <a:stretch>
            <a:fillRect/>
          </a:stretch>
        </p:blipFill>
        <p:spPr>
          <a:xfrm>
            <a:off x="5255277" y="3412995"/>
            <a:ext cx="5830114" cy="1562318"/>
          </a:xfrm>
          <a:prstGeom prst="rect">
            <a:avLst/>
          </a:prstGeom>
        </p:spPr>
      </p:pic>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a:xfrm>
            <a:off x="279400" y="559858"/>
            <a:ext cx="10515600" cy="1325563"/>
          </a:xfrm>
        </p:spPr>
        <p:txBody>
          <a:bodyPr>
            <a:normAutofit/>
          </a:bodyPr>
          <a:lstStyle/>
          <a:p>
            <a:r>
              <a:rPr lang="en-IN" sz="3600" b="1" dirty="0"/>
              <a:t>CO 4-Object- Oriented Programming</a:t>
            </a:r>
          </a:p>
        </p:txBody>
      </p:sp>
      <p:sp>
        <p:nvSpPr>
          <p:cNvPr id="4" name="Date Placeholder 3">
            <a:extLst>
              <a:ext uri="{FF2B5EF4-FFF2-40B4-BE49-F238E27FC236}">
                <a16:creationId xmlns:a16="http://schemas.microsoft.com/office/drawing/2014/main" id="{12815390-19B0-38A3-419D-59F37FA3AD2A}"/>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FD53250B-C6BE-E742-A34D-6B496E77E1B6}"/>
              </a:ext>
            </a:extLst>
          </p:cNvPr>
          <p:cNvSpPr>
            <a:spLocks noGrp="1"/>
          </p:cNvSpPr>
          <p:nvPr>
            <p:ph type="sldNum" sz="quarter" idx="12"/>
          </p:nvPr>
        </p:nvSpPr>
        <p:spPr/>
        <p:txBody>
          <a:bodyPr/>
          <a:lstStyle/>
          <a:p>
            <a:fld id="{CB012AB6-14AF-4351-87AD-D420B05274E1}" type="slidenum">
              <a:rPr lang="en-IN" smtClean="0"/>
              <a:t>7</a:t>
            </a:fld>
            <a:endParaRPr lang="en-IN"/>
          </a:p>
        </p:txBody>
      </p:sp>
      <p:sp>
        <p:nvSpPr>
          <p:cNvPr id="7" name="TextBox 6">
            <a:extLst>
              <a:ext uri="{FF2B5EF4-FFF2-40B4-BE49-F238E27FC236}">
                <a16:creationId xmlns:a16="http://schemas.microsoft.com/office/drawing/2014/main" id="{915EF83D-5699-0CB3-441F-B1F1E8B62314}"/>
              </a:ext>
            </a:extLst>
          </p:cNvPr>
          <p:cNvSpPr txBox="1"/>
          <p:nvPr/>
        </p:nvSpPr>
        <p:spPr>
          <a:xfrm>
            <a:off x="279400" y="1449336"/>
            <a:ext cx="11971867" cy="1711366"/>
          </a:xfrm>
          <a:prstGeom prst="rect">
            <a:avLst/>
          </a:prstGeom>
          <a:noFill/>
        </p:spPr>
        <p:txBody>
          <a:bodyPr wrap="square">
            <a:spAutoFit/>
          </a:bodyPr>
          <a:lstStyle/>
          <a:p>
            <a:pPr>
              <a:lnSpc>
                <a:spcPct val="150000"/>
              </a:lnSpc>
            </a:pPr>
            <a:r>
              <a:rPr lang="en-IN" dirty="0">
                <a:latin typeface="Calibri" panose="020F0502020204030204" pitchFamily="34" charset="0"/>
                <a:ea typeface="Calibri" panose="020F0502020204030204" pitchFamily="34" charset="0"/>
                <a:cs typeface="Calibri" panose="020F0502020204030204" pitchFamily="34" charset="0"/>
              </a:rPr>
              <a:t>Our project demonstrates object-oriented programming through the Book class and its objects. It uses private fields with getters and setters for encapsulation, constructors to initialize book details, and inheritance through </a:t>
            </a:r>
            <a:r>
              <a:rPr lang="en-IN" dirty="0" err="1">
                <a:latin typeface="Calibri" panose="020F0502020204030204" pitchFamily="34" charset="0"/>
                <a:ea typeface="Calibri" panose="020F0502020204030204" pitchFamily="34" charset="0"/>
                <a:cs typeface="Calibri" panose="020F0502020204030204" pitchFamily="34" charset="0"/>
              </a:rPr>
              <a:t>EBook</a:t>
            </a:r>
            <a:r>
              <a:rPr lang="en-IN" dirty="0">
                <a:latin typeface="Calibri" panose="020F0502020204030204" pitchFamily="34" charset="0"/>
                <a:ea typeface="Calibri" panose="020F0502020204030204" pitchFamily="34" charset="0"/>
                <a:cs typeface="Calibri" panose="020F0502020204030204" pitchFamily="34" charset="0"/>
              </a:rPr>
              <a:t> and </a:t>
            </a:r>
            <a:r>
              <a:rPr lang="en-IN" dirty="0" err="1">
                <a:latin typeface="Calibri" panose="020F0502020204030204" pitchFamily="34" charset="0"/>
                <a:ea typeface="Calibri" panose="020F0502020204030204" pitchFamily="34" charset="0"/>
                <a:cs typeface="Calibri" panose="020F0502020204030204" pitchFamily="34" charset="0"/>
              </a:rPr>
              <a:t>PrintedBook</a:t>
            </a:r>
            <a:r>
              <a:rPr lang="en-IN" dirty="0">
                <a:latin typeface="Calibri" panose="020F0502020204030204" pitchFamily="34" charset="0"/>
                <a:ea typeface="Calibri" panose="020F0502020204030204" pitchFamily="34" charset="0"/>
                <a:cs typeface="Calibri" panose="020F0502020204030204" pitchFamily="34" charset="0"/>
              </a:rPr>
              <a:t>, which extend Book. The subclasses override </a:t>
            </a:r>
            <a:r>
              <a:rPr lang="en-IN" dirty="0" err="1">
                <a:latin typeface="Calibri" panose="020F0502020204030204" pitchFamily="34" charset="0"/>
                <a:ea typeface="Calibri" panose="020F0502020204030204" pitchFamily="34" charset="0"/>
                <a:cs typeface="Calibri" panose="020F0502020204030204" pitchFamily="34" charset="0"/>
              </a:rPr>
              <a:t>displayDetails</a:t>
            </a:r>
            <a:r>
              <a:rPr lang="en-IN" dirty="0">
                <a:latin typeface="Calibri" panose="020F0502020204030204" pitchFamily="34" charset="0"/>
                <a:ea typeface="Calibri" panose="020F0502020204030204" pitchFamily="34" charset="0"/>
                <a:cs typeface="Calibri" panose="020F0502020204030204" pitchFamily="34" charset="0"/>
              </a:rPr>
              <a:t>(), while the </a:t>
            </a:r>
            <a:r>
              <a:rPr lang="en-IN" dirty="0" err="1">
                <a:latin typeface="Calibri" panose="020F0502020204030204" pitchFamily="34" charset="0"/>
                <a:ea typeface="Calibri" panose="020F0502020204030204" pitchFamily="34" charset="0"/>
                <a:cs typeface="Calibri" panose="020F0502020204030204" pitchFamily="34" charset="0"/>
              </a:rPr>
              <a:t>LibraryOperations</a:t>
            </a:r>
            <a:r>
              <a:rPr lang="en-IN" dirty="0">
                <a:latin typeface="Calibri" panose="020F0502020204030204" pitchFamily="34" charset="0"/>
                <a:ea typeface="Calibri" panose="020F0502020204030204" pitchFamily="34" charset="0"/>
                <a:cs typeface="Calibri" panose="020F0502020204030204" pitchFamily="34" charset="0"/>
              </a:rPr>
              <a:t> interface defines borrowing and returning operations.</a:t>
            </a:r>
          </a:p>
        </p:txBody>
      </p:sp>
      <p:pic>
        <p:nvPicPr>
          <p:cNvPr id="9" name="Picture 8">
            <a:extLst>
              <a:ext uri="{FF2B5EF4-FFF2-40B4-BE49-F238E27FC236}">
                <a16:creationId xmlns:a16="http://schemas.microsoft.com/office/drawing/2014/main" id="{E8912D9D-B3CD-64E0-E440-F7881CB70D24}"/>
              </a:ext>
            </a:extLst>
          </p:cNvPr>
          <p:cNvPicPr>
            <a:picLocks noChangeAspect="1"/>
          </p:cNvPicPr>
          <p:nvPr/>
        </p:nvPicPr>
        <p:blipFill>
          <a:blip r:embed="rId2"/>
          <a:stretch>
            <a:fillRect/>
          </a:stretch>
        </p:blipFill>
        <p:spPr>
          <a:xfrm>
            <a:off x="926114" y="3368965"/>
            <a:ext cx="5010874" cy="2625436"/>
          </a:xfrm>
          <a:prstGeom prst="rect">
            <a:avLst/>
          </a:prstGeom>
        </p:spPr>
      </p:pic>
      <p:pic>
        <p:nvPicPr>
          <p:cNvPr id="11" name="Picture 10">
            <a:extLst>
              <a:ext uri="{FF2B5EF4-FFF2-40B4-BE49-F238E27FC236}">
                <a16:creationId xmlns:a16="http://schemas.microsoft.com/office/drawing/2014/main" id="{20C78D85-CFDE-91A4-4EED-F5BD4DB0038A}"/>
              </a:ext>
            </a:extLst>
          </p:cNvPr>
          <p:cNvPicPr>
            <a:picLocks noChangeAspect="1"/>
          </p:cNvPicPr>
          <p:nvPr/>
        </p:nvPicPr>
        <p:blipFill>
          <a:blip r:embed="rId3"/>
          <a:stretch>
            <a:fillRect/>
          </a:stretch>
        </p:blipFill>
        <p:spPr>
          <a:xfrm>
            <a:off x="6419405" y="3368965"/>
            <a:ext cx="4846481" cy="2633641"/>
          </a:xfrm>
          <a:prstGeom prst="rect">
            <a:avLst/>
          </a:prstGeom>
        </p:spPr>
      </p:pic>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a:xfrm>
            <a:off x="228600" y="525992"/>
            <a:ext cx="10515600" cy="1325563"/>
          </a:xfrm>
        </p:spPr>
        <p:txBody>
          <a:bodyPr>
            <a:normAutofit/>
          </a:bodyPr>
          <a:lstStyle/>
          <a:p>
            <a:r>
              <a:rPr lang="en-IN" sz="3600" b="1" dirty="0"/>
              <a:t>CO 5-Strings, Searching, Sorting and File handling</a:t>
            </a:r>
          </a:p>
        </p:txBody>
      </p:sp>
      <p:sp>
        <p:nvSpPr>
          <p:cNvPr id="4" name="Date Placeholder 3">
            <a:extLst>
              <a:ext uri="{FF2B5EF4-FFF2-40B4-BE49-F238E27FC236}">
                <a16:creationId xmlns:a16="http://schemas.microsoft.com/office/drawing/2014/main" id="{84AD4194-282F-9DD3-B905-AF4DCC70907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012EFFB7-2020-7F21-31F3-A08A79B5EFF2}"/>
              </a:ext>
            </a:extLst>
          </p:cNvPr>
          <p:cNvSpPr>
            <a:spLocks noGrp="1"/>
          </p:cNvSpPr>
          <p:nvPr>
            <p:ph type="sldNum" sz="quarter" idx="12"/>
          </p:nvPr>
        </p:nvSpPr>
        <p:spPr/>
        <p:txBody>
          <a:bodyPr/>
          <a:lstStyle/>
          <a:p>
            <a:fld id="{CB012AB6-14AF-4351-87AD-D420B05274E1}" type="slidenum">
              <a:rPr lang="en-IN" smtClean="0"/>
              <a:t>8</a:t>
            </a:fld>
            <a:endParaRPr lang="en-IN"/>
          </a:p>
        </p:txBody>
      </p:sp>
      <p:sp>
        <p:nvSpPr>
          <p:cNvPr id="7" name="TextBox 6">
            <a:extLst>
              <a:ext uri="{FF2B5EF4-FFF2-40B4-BE49-F238E27FC236}">
                <a16:creationId xmlns:a16="http://schemas.microsoft.com/office/drawing/2014/main" id="{DFD8F72E-E46C-38C9-A8D4-D88D9D4ED83C}"/>
              </a:ext>
            </a:extLst>
          </p:cNvPr>
          <p:cNvSpPr txBox="1"/>
          <p:nvPr/>
        </p:nvSpPr>
        <p:spPr>
          <a:xfrm>
            <a:off x="321733" y="1509236"/>
            <a:ext cx="11734800" cy="1295868"/>
          </a:xfrm>
          <a:prstGeom prst="rect">
            <a:avLst/>
          </a:prstGeom>
          <a:noFill/>
        </p:spPr>
        <p:txBody>
          <a:bodyPr wrap="square">
            <a:spAutoFit/>
          </a:bodyPr>
          <a:lstStyle/>
          <a:p>
            <a:pPr>
              <a:lnSpc>
                <a:spcPct val="150000"/>
              </a:lnSpc>
            </a:pPr>
            <a:r>
              <a:rPr lang="en-IN" dirty="0">
                <a:latin typeface="Calibri" panose="020F0502020204030204" pitchFamily="34" charset="0"/>
                <a:ea typeface="Calibri" panose="020F0502020204030204" pitchFamily="34" charset="0"/>
                <a:cs typeface="Calibri" panose="020F0502020204030204" pitchFamily="34" charset="0"/>
              </a:rPr>
              <a:t>Our project demonstrates string operations by checking a book title’s length, converting it to uppercase, and searching within it. It sorts and searches book titles using arrays and collections. It also saves book details to a text file and reads them back using Java file handling.</a:t>
            </a:r>
          </a:p>
        </p:txBody>
      </p:sp>
      <p:pic>
        <p:nvPicPr>
          <p:cNvPr id="9" name="Picture 8">
            <a:extLst>
              <a:ext uri="{FF2B5EF4-FFF2-40B4-BE49-F238E27FC236}">
                <a16:creationId xmlns:a16="http://schemas.microsoft.com/office/drawing/2014/main" id="{3CFC6DC7-3F80-43A0-0E14-FBC3E5EC44BF}"/>
              </a:ext>
            </a:extLst>
          </p:cNvPr>
          <p:cNvPicPr>
            <a:picLocks noChangeAspect="1"/>
          </p:cNvPicPr>
          <p:nvPr/>
        </p:nvPicPr>
        <p:blipFill>
          <a:blip r:embed="rId2"/>
          <a:stretch>
            <a:fillRect/>
          </a:stretch>
        </p:blipFill>
        <p:spPr>
          <a:xfrm>
            <a:off x="321733" y="3174277"/>
            <a:ext cx="6260147" cy="2280893"/>
          </a:xfrm>
          <a:prstGeom prst="rect">
            <a:avLst/>
          </a:prstGeom>
        </p:spPr>
      </p:pic>
      <p:pic>
        <p:nvPicPr>
          <p:cNvPr id="11" name="Picture 10">
            <a:extLst>
              <a:ext uri="{FF2B5EF4-FFF2-40B4-BE49-F238E27FC236}">
                <a16:creationId xmlns:a16="http://schemas.microsoft.com/office/drawing/2014/main" id="{00C3A943-4547-2951-5C5C-F903CA81ED4E}"/>
              </a:ext>
            </a:extLst>
          </p:cNvPr>
          <p:cNvPicPr>
            <a:picLocks noChangeAspect="1"/>
          </p:cNvPicPr>
          <p:nvPr/>
        </p:nvPicPr>
        <p:blipFill>
          <a:blip r:embed="rId3"/>
          <a:stretch>
            <a:fillRect/>
          </a:stretch>
        </p:blipFill>
        <p:spPr>
          <a:xfrm>
            <a:off x="7043306" y="3174277"/>
            <a:ext cx="4674561" cy="2412909"/>
          </a:xfrm>
          <a:prstGeom prst="rect">
            <a:avLst/>
          </a:prstGeom>
        </p:spPr>
      </p:pic>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a:xfrm>
            <a:off x="347133" y="554037"/>
            <a:ext cx="10515600" cy="1325563"/>
          </a:xfrm>
        </p:spPr>
        <p:txBody>
          <a:bodyPr>
            <a:normAutofit/>
          </a:bodyPr>
          <a:lstStyle/>
          <a:p>
            <a:r>
              <a:rPr lang="en-IN" sz="3600" b="1" dirty="0"/>
              <a:t>CO 6-Collections and Streams</a:t>
            </a:r>
          </a:p>
        </p:txBody>
      </p:sp>
      <p:sp>
        <p:nvSpPr>
          <p:cNvPr id="4" name="Date Placeholder 3">
            <a:extLst>
              <a:ext uri="{FF2B5EF4-FFF2-40B4-BE49-F238E27FC236}">
                <a16:creationId xmlns:a16="http://schemas.microsoft.com/office/drawing/2014/main" id="{FCA7D639-42E4-340C-86C7-AC49E0E499A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49D618D2-09FF-1F94-1B2A-BA5BD90DF337}"/>
              </a:ext>
            </a:extLst>
          </p:cNvPr>
          <p:cNvSpPr>
            <a:spLocks noGrp="1"/>
          </p:cNvSpPr>
          <p:nvPr>
            <p:ph type="sldNum" sz="quarter" idx="12"/>
          </p:nvPr>
        </p:nvSpPr>
        <p:spPr/>
        <p:txBody>
          <a:bodyPr/>
          <a:lstStyle/>
          <a:p>
            <a:fld id="{CB012AB6-14AF-4351-87AD-D420B05274E1}" type="slidenum">
              <a:rPr lang="en-IN" smtClean="0"/>
              <a:t>9</a:t>
            </a:fld>
            <a:endParaRPr lang="en-IN"/>
          </a:p>
        </p:txBody>
      </p:sp>
      <p:sp>
        <p:nvSpPr>
          <p:cNvPr id="9" name="TextBox 8">
            <a:extLst>
              <a:ext uri="{FF2B5EF4-FFF2-40B4-BE49-F238E27FC236}">
                <a16:creationId xmlns:a16="http://schemas.microsoft.com/office/drawing/2014/main" id="{559A07EB-D7D6-04FA-9066-5C44D141F3B9}"/>
              </a:ext>
            </a:extLst>
          </p:cNvPr>
          <p:cNvSpPr txBox="1"/>
          <p:nvPr/>
        </p:nvSpPr>
        <p:spPr>
          <a:xfrm>
            <a:off x="415881" y="1551569"/>
            <a:ext cx="11573934" cy="1298882"/>
          </a:xfrm>
          <a:prstGeom prst="rect">
            <a:avLst/>
          </a:prstGeom>
          <a:noFill/>
        </p:spPr>
        <p:txBody>
          <a:bodyPr wrap="square">
            <a:spAutoFit/>
          </a:bodyPr>
          <a:lstStyle/>
          <a:p>
            <a:pPr>
              <a:lnSpc>
                <a:spcPct val="150000"/>
              </a:lnSpc>
            </a:pPr>
            <a:r>
              <a:rPr lang="en-IN" dirty="0"/>
              <a:t>Our project uses </a:t>
            </a:r>
            <a:r>
              <a:rPr lang="en-IN" dirty="0" err="1"/>
              <a:t>ArrayList</a:t>
            </a:r>
            <a:r>
              <a:rPr lang="en-IN" dirty="0"/>
              <a:t>, HashMap, and HashSet to store and organize book data. It uses collections to look up books and keep unique words from book titles. It also processes book records to filter, sort, group, and calculate average ratings.</a:t>
            </a:r>
          </a:p>
        </p:txBody>
      </p:sp>
      <p:pic>
        <p:nvPicPr>
          <p:cNvPr id="11" name="Picture 10">
            <a:extLst>
              <a:ext uri="{FF2B5EF4-FFF2-40B4-BE49-F238E27FC236}">
                <a16:creationId xmlns:a16="http://schemas.microsoft.com/office/drawing/2014/main" id="{7C8A312A-3CAC-B77D-FAB1-C7D2303E6813}"/>
              </a:ext>
            </a:extLst>
          </p:cNvPr>
          <p:cNvPicPr>
            <a:picLocks noChangeAspect="1"/>
          </p:cNvPicPr>
          <p:nvPr/>
        </p:nvPicPr>
        <p:blipFill>
          <a:blip r:embed="rId2"/>
          <a:stretch>
            <a:fillRect/>
          </a:stretch>
        </p:blipFill>
        <p:spPr>
          <a:xfrm>
            <a:off x="415881" y="3278194"/>
            <a:ext cx="5253459" cy="2574265"/>
          </a:xfrm>
          <a:prstGeom prst="rect">
            <a:avLst/>
          </a:prstGeom>
        </p:spPr>
      </p:pic>
      <p:pic>
        <p:nvPicPr>
          <p:cNvPr id="13" name="Picture 12">
            <a:extLst>
              <a:ext uri="{FF2B5EF4-FFF2-40B4-BE49-F238E27FC236}">
                <a16:creationId xmlns:a16="http://schemas.microsoft.com/office/drawing/2014/main" id="{CF7CAC22-529F-2550-DDAF-99894837672D}"/>
              </a:ext>
            </a:extLst>
          </p:cNvPr>
          <p:cNvPicPr>
            <a:picLocks noChangeAspect="1"/>
          </p:cNvPicPr>
          <p:nvPr/>
        </p:nvPicPr>
        <p:blipFill>
          <a:blip r:embed="rId3"/>
          <a:stretch>
            <a:fillRect/>
          </a:stretch>
        </p:blipFill>
        <p:spPr>
          <a:xfrm>
            <a:off x="6305112" y="3278194"/>
            <a:ext cx="4616888" cy="2574265"/>
          </a:xfrm>
          <a:prstGeom prst="rect">
            <a:avLst/>
          </a:prstGeom>
        </p:spPr>
      </p:pic>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a:xfrm>
            <a:off x="575733" y="890059"/>
            <a:ext cx="10515600" cy="1325563"/>
          </a:xfrm>
        </p:spPr>
        <p:txBody>
          <a:bodyPr/>
          <a:lstStyle/>
          <a:p>
            <a:r>
              <a:rPr lang="en-IN" b="1" dirty="0"/>
              <a:t>Conclusion</a:t>
            </a:r>
          </a:p>
        </p:txBody>
      </p:sp>
      <p:sp>
        <p:nvSpPr>
          <p:cNvPr id="4" name="Date Placeholder 3">
            <a:extLst>
              <a:ext uri="{FF2B5EF4-FFF2-40B4-BE49-F238E27FC236}">
                <a16:creationId xmlns:a16="http://schemas.microsoft.com/office/drawing/2014/main" id="{26120CA1-D5C4-5904-1345-350900EF2C7B}"/>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9292BF1E-562C-F1F9-8BD5-71BDFB3438D1}"/>
              </a:ext>
            </a:extLst>
          </p:cNvPr>
          <p:cNvSpPr>
            <a:spLocks noGrp="1"/>
          </p:cNvSpPr>
          <p:nvPr>
            <p:ph type="sldNum" sz="quarter" idx="12"/>
          </p:nvPr>
        </p:nvSpPr>
        <p:spPr/>
        <p:txBody>
          <a:bodyPr/>
          <a:lstStyle/>
          <a:p>
            <a:fld id="{CB012AB6-14AF-4351-87AD-D420B05274E1}" type="slidenum">
              <a:rPr lang="en-IN" smtClean="0"/>
              <a:t>10</a:t>
            </a:fld>
            <a:endParaRPr lang="en-IN"/>
          </a:p>
        </p:txBody>
      </p:sp>
      <p:sp>
        <p:nvSpPr>
          <p:cNvPr id="7" name="TextBox 6">
            <a:extLst>
              <a:ext uri="{FF2B5EF4-FFF2-40B4-BE49-F238E27FC236}">
                <a16:creationId xmlns:a16="http://schemas.microsoft.com/office/drawing/2014/main" id="{6CCF5CD0-11AF-7BB4-F50F-C5CD2B1F07C8}"/>
              </a:ext>
            </a:extLst>
          </p:cNvPr>
          <p:cNvSpPr txBox="1"/>
          <p:nvPr/>
        </p:nvSpPr>
        <p:spPr>
          <a:xfrm>
            <a:off x="575733" y="1948870"/>
            <a:ext cx="11336867" cy="2692019"/>
          </a:xfrm>
          <a:prstGeom prst="rect">
            <a:avLst/>
          </a:prstGeom>
          <a:noFill/>
        </p:spPr>
        <p:txBody>
          <a:bodyPr wrap="square">
            <a:spAutoFit/>
          </a:bodyPr>
          <a:lstStyle/>
          <a:p>
            <a:pPr>
              <a:lnSpc>
                <a:spcPct val="150000"/>
              </a:lnSpc>
            </a:pPr>
            <a:r>
              <a:rPr lang="en-IN" sz="2300" dirty="0">
                <a:latin typeface="Calibri" panose="020F0502020204030204" pitchFamily="34" charset="0"/>
                <a:ea typeface="Calibri" panose="020F0502020204030204" pitchFamily="34" charset="0"/>
                <a:cs typeface="Calibri" panose="020F0502020204030204" pitchFamily="34" charset="0"/>
              </a:rPr>
              <a:t>The Community Library Management System organizes book information and supports common tasks such as displaying, searching, sorting, borrowing, and returning books. Through the project, we applied Java fundamentals, control flow, methods, arrays, object-oriented programming, file handling, and collections. The project demonstrates how these concepts can be combined to build a simple library program.</a:t>
            </a:r>
          </a:p>
        </p:txBody>
      </p:sp>
    </p:spTree>
    <p:extLst>
      <p:ext uri="{BB962C8B-B14F-4D97-AF65-F5344CB8AC3E}">
        <p14:creationId xmlns:p14="http://schemas.microsoft.com/office/powerpoint/2010/main" val="17449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a:xfrm>
            <a:off x="414866" y="796925"/>
            <a:ext cx="10515600" cy="1325563"/>
          </a:xfrm>
        </p:spPr>
        <p:txBody>
          <a:bodyPr>
            <a:normAutofit/>
          </a:bodyPr>
          <a:lstStyle/>
          <a:p>
            <a:r>
              <a:rPr lang="en-US" sz="3600" b="1" dirty="0"/>
              <a:t>O</a:t>
            </a:r>
            <a:r>
              <a:rPr lang="en-IN" sz="3600" b="1" dirty="0"/>
              <a:t>UTPUTS - </a:t>
            </a:r>
          </a:p>
        </p:txBody>
      </p:sp>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fld id="{CB012AB6-14AF-4351-87AD-D420B05274E1}" type="slidenum">
              <a:rPr lang="en-IN" smtClean="0"/>
              <a:t>11</a:t>
            </a:fld>
            <a:endParaRPr lang="en-IN"/>
          </a:p>
        </p:txBody>
      </p:sp>
      <p:pic>
        <p:nvPicPr>
          <p:cNvPr id="9" name="Picture 8">
            <a:extLst>
              <a:ext uri="{FF2B5EF4-FFF2-40B4-BE49-F238E27FC236}">
                <a16:creationId xmlns:a16="http://schemas.microsoft.com/office/drawing/2014/main" id="{6BADCD89-99C1-2573-5D51-F5695C0BDCF8}"/>
              </a:ext>
            </a:extLst>
          </p:cNvPr>
          <p:cNvPicPr>
            <a:picLocks noChangeAspect="1"/>
          </p:cNvPicPr>
          <p:nvPr/>
        </p:nvPicPr>
        <p:blipFill>
          <a:blip r:embed="rId2"/>
          <a:stretch>
            <a:fillRect/>
          </a:stretch>
        </p:blipFill>
        <p:spPr>
          <a:xfrm>
            <a:off x="414866" y="2293728"/>
            <a:ext cx="3731547" cy="2865159"/>
          </a:xfrm>
          <a:prstGeom prst="rect">
            <a:avLst/>
          </a:prstGeom>
        </p:spPr>
      </p:pic>
      <p:pic>
        <p:nvPicPr>
          <p:cNvPr id="11" name="Picture 10">
            <a:extLst>
              <a:ext uri="{FF2B5EF4-FFF2-40B4-BE49-F238E27FC236}">
                <a16:creationId xmlns:a16="http://schemas.microsoft.com/office/drawing/2014/main" id="{655807FC-C77F-B3C2-DFE4-8879F3F5F1C5}"/>
              </a:ext>
            </a:extLst>
          </p:cNvPr>
          <p:cNvPicPr>
            <a:picLocks noChangeAspect="1"/>
          </p:cNvPicPr>
          <p:nvPr/>
        </p:nvPicPr>
        <p:blipFill>
          <a:blip r:embed="rId3"/>
          <a:stretch>
            <a:fillRect/>
          </a:stretch>
        </p:blipFill>
        <p:spPr>
          <a:xfrm>
            <a:off x="4537110" y="2293728"/>
            <a:ext cx="3399082" cy="2935991"/>
          </a:xfrm>
          <a:prstGeom prst="rect">
            <a:avLst/>
          </a:prstGeom>
        </p:spPr>
      </p:pic>
      <p:pic>
        <p:nvPicPr>
          <p:cNvPr id="13" name="Picture 12">
            <a:extLst>
              <a:ext uri="{FF2B5EF4-FFF2-40B4-BE49-F238E27FC236}">
                <a16:creationId xmlns:a16="http://schemas.microsoft.com/office/drawing/2014/main" id="{C9F61AC7-47A1-11E2-1255-406B1B0483AE}"/>
              </a:ext>
            </a:extLst>
          </p:cNvPr>
          <p:cNvPicPr>
            <a:picLocks noChangeAspect="1"/>
          </p:cNvPicPr>
          <p:nvPr/>
        </p:nvPicPr>
        <p:blipFill>
          <a:blip r:embed="rId4"/>
          <a:stretch>
            <a:fillRect/>
          </a:stretch>
        </p:blipFill>
        <p:spPr>
          <a:xfrm>
            <a:off x="8250690" y="2293728"/>
            <a:ext cx="3639058" cy="2391109"/>
          </a:xfrm>
          <a:prstGeom prst="rect">
            <a:avLst/>
          </a:prstGeom>
        </p:spPr>
      </p:pic>
    </p:spTree>
    <p:extLst>
      <p:ext uri="{BB962C8B-B14F-4D97-AF65-F5344CB8AC3E}">
        <p14:creationId xmlns:p14="http://schemas.microsoft.com/office/powerpoint/2010/main" val="201529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a:xfrm>
            <a:off x="838200" y="659697"/>
            <a:ext cx="10515600" cy="892548"/>
          </a:xfrm>
        </p:spPr>
        <p:txBody>
          <a:bodyPr/>
          <a:lstStyle/>
          <a:p>
            <a:r>
              <a:rPr lang="en-IN" dirty="0"/>
              <a:t>Geo Tag Photo-</a:t>
            </a:r>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16-10-2026</a:t>
            </a:fld>
            <a:endParaRPr lang="en-IN"/>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12</a:t>
            </a:fld>
            <a:endParaRPr lang="en-IN"/>
          </a:p>
        </p:txBody>
      </p:sp>
      <p:pic>
        <p:nvPicPr>
          <p:cNvPr id="10" name="Picture 9">
            <a:extLst>
              <a:ext uri="{FF2B5EF4-FFF2-40B4-BE49-F238E27FC236}">
                <a16:creationId xmlns:a16="http://schemas.microsoft.com/office/drawing/2014/main" id="{224DB19A-831B-4419-9C61-4CABA242A9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970" y="1690688"/>
            <a:ext cx="4665785" cy="3191118"/>
          </a:xfrm>
          <a:prstGeom prst="rect">
            <a:avLst/>
          </a:prstGeom>
        </p:spPr>
      </p:pic>
      <p:pic>
        <p:nvPicPr>
          <p:cNvPr id="12" name="Picture 11">
            <a:extLst>
              <a:ext uri="{FF2B5EF4-FFF2-40B4-BE49-F238E27FC236}">
                <a16:creationId xmlns:a16="http://schemas.microsoft.com/office/drawing/2014/main" id="{0F8A150C-BAE1-4260-BA14-FF76CEFA56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8172" y="1552245"/>
            <a:ext cx="3534800" cy="3348428"/>
          </a:xfrm>
          <a:prstGeom prst="rect">
            <a:avLst/>
          </a:prstGeom>
        </p:spPr>
      </p:pic>
      <p:sp>
        <p:nvSpPr>
          <p:cNvPr id="14" name="TextBox 13">
            <a:extLst>
              <a:ext uri="{FF2B5EF4-FFF2-40B4-BE49-F238E27FC236}">
                <a16:creationId xmlns:a16="http://schemas.microsoft.com/office/drawing/2014/main" id="{0474610F-39F8-4DF2-8259-5F46668CAEF0}"/>
              </a:ext>
            </a:extLst>
          </p:cNvPr>
          <p:cNvSpPr txBox="1"/>
          <p:nvPr/>
        </p:nvSpPr>
        <p:spPr>
          <a:xfrm>
            <a:off x="4118317" y="5554003"/>
            <a:ext cx="8017412" cy="369332"/>
          </a:xfrm>
          <a:prstGeom prst="rect">
            <a:avLst/>
          </a:prstGeom>
          <a:noFill/>
        </p:spPr>
        <p:txBody>
          <a:bodyPr wrap="square">
            <a:spAutoFit/>
          </a:bodyPr>
          <a:lstStyle/>
          <a:p>
            <a:r>
              <a:rPr lang="en-IN" dirty="0"/>
              <a:t>https://github.com/deekshitha0897/Community-Library-Management-System</a:t>
            </a:r>
          </a:p>
        </p:txBody>
      </p:sp>
      <p:sp>
        <p:nvSpPr>
          <p:cNvPr id="16" name="TextBox 15">
            <a:extLst>
              <a:ext uri="{FF2B5EF4-FFF2-40B4-BE49-F238E27FC236}">
                <a16:creationId xmlns:a16="http://schemas.microsoft.com/office/drawing/2014/main" id="{62F37572-9F42-43E3-8343-E5C5561DB248}"/>
              </a:ext>
            </a:extLst>
          </p:cNvPr>
          <p:cNvSpPr txBox="1"/>
          <p:nvPr/>
        </p:nvSpPr>
        <p:spPr>
          <a:xfrm>
            <a:off x="961292" y="5415503"/>
            <a:ext cx="3157025" cy="646331"/>
          </a:xfrm>
          <a:prstGeom prst="rect">
            <a:avLst/>
          </a:prstGeom>
          <a:noFill/>
        </p:spPr>
        <p:txBody>
          <a:bodyPr wrap="square">
            <a:spAutoFit/>
          </a:bodyPr>
          <a:lstStyle/>
          <a:p>
            <a:r>
              <a:rPr lang="en-IN" sz="3600" dirty="0">
                <a:latin typeface="Arial Rounded MT Bold" panose="020F0704030504030204" pitchFamily="34" charset="0"/>
              </a:rPr>
              <a:t>Git hub link -</a:t>
            </a:r>
          </a:p>
        </p:txBody>
      </p:sp>
    </p:spTree>
    <p:extLst>
      <p:ext uri="{BB962C8B-B14F-4D97-AF65-F5344CB8AC3E}">
        <p14:creationId xmlns:p14="http://schemas.microsoft.com/office/powerpoint/2010/main" val="1396777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DCF6F7-67DF-EC6B-06FA-0CE92CF332DD}"/>
              </a:ext>
            </a:extLst>
          </p:cNvPr>
          <p:cNvSpPr>
            <a:spLocks noGrp="1"/>
          </p:cNvSpPr>
          <p:nvPr>
            <p:ph type="dt" sz="half" idx="10"/>
          </p:nvPr>
        </p:nvSpPr>
        <p:spPr/>
        <p:txBody>
          <a:bodyPr/>
          <a:lstStyle/>
          <a:p>
            <a:fld id="{2FD85D5E-B9E5-4C7E-88B1-43A66A7C3488}" type="datetime1">
              <a:rPr lang="en-IN" smtClean="0"/>
              <a:t>16-10-2026</a:t>
            </a:fld>
            <a:endParaRPr lang="en-IN"/>
          </a:p>
        </p:txBody>
      </p:sp>
      <p:sp>
        <p:nvSpPr>
          <p:cNvPr id="3" name="Slide Number Placeholder 2">
            <a:extLst>
              <a:ext uri="{FF2B5EF4-FFF2-40B4-BE49-F238E27FC236}">
                <a16:creationId xmlns:a16="http://schemas.microsoft.com/office/drawing/2014/main" id="{EB159933-00EF-A155-0CB6-F4D64AF29942}"/>
              </a:ext>
            </a:extLst>
          </p:cNvPr>
          <p:cNvSpPr>
            <a:spLocks noGrp="1"/>
          </p:cNvSpPr>
          <p:nvPr>
            <p:ph type="sldNum" sz="quarter" idx="12"/>
          </p:nvPr>
        </p:nvSpPr>
        <p:spPr/>
        <p:txBody>
          <a:bodyPr/>
          <a:lstStyle/>
          <a:p>
            <a:fld id="{CB012AB6-14AF-4351-87AD-D420B05274E1}" type="slidenum">
              <a:rPr lang="en-IN" smtClean="0"/>
              <a:t>13</a:t>
            </a:fld>
            <a:endParaRPr lang="en-IN"/>
          </a:p>
        </p:txBody>
      </p:sp>
      <p:sp>
        <p:nvSpPr>
          <p:cNvPr id="4" name="TextBox 3">
            <a:extLst>
              <a:ext uri="{FF2B5EF4-FFF2-40B4-BE49-F238E27FC236}">
                <a16:creationId xmlns:a16="http://schemas.microsoft.com/office/drawing/2014/main" id="{AD7B4367-EA8B-8A27-355E-B803BCF806D0}"/>
              </a:ext>
            </a:extLst>
          </p:cNvPr>
          <p:cNvSpPr txBox="1"/>
          <p:nvPr/>
        </p:nvSpPr>
        <p:spPr>
          <a:xfrm>
            <a:off x="3649132" y="2506133"/>
            <a:ext cx="4751365" cy="1107996"/>
          </a:xfrm>
          <a:prstGeom prst="rect">
            <a:avLst/>
          </a:prstGeom>
          <a:noFill/>
        </p:spPr>
        <p:txBody>
          <a:bodyPr wrap="none" rtlCol="0">
            <a:spAutoFit/>
          </a:bodyPr>
          <a:lstStyle/>
          <a:p>
            <a:r>
              <a:rPr lang="en-US" sz="6600" b="1" dirty="0"/>
              <a:t>THANK YOU</a:t>
            </a:r>
            <a:endParaRPr lang="en-IN" sz="6600" b="1" dirty="0"/>
          </a:p>
        </p:txBody>
      </p:sp>
    </p:spTree>
    <p:extLst>
      <p:ext uri="{BB962C8B-B14F-4D97-AF65-F5344CB8AC3E}">
        <p14:creationId xmlns:p14="http://schemas.microsoft.com/office/powerpoint/2010/main" val="283413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723</Words>
  <Application>Microsoft Office PowerPoint</Application>
  <PresentationFormat>Widescreen</PresentationFormat>
  <Paragraphs>57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Arial Rounded MT Bold</vt:lpstr>
      <vt:lpstr>Calibri</vt:lpstr>
      <vt:lpstr>Office Theme</vt:lpstr>
      <vt:lpstr>COMMUNITY LIBRARY MANAGEMENT SYSTEM Team No -1</vt:lpstr>
      <vt:lpstr>Abstract</vt:lpstr>
      <vt:lpstr>Understanding Problem Statement</vt:lpstr>
      <vt:lpstr>CO 1 – JAVA FOUNDATIONS</vt:lpstr>
      <vt:lpstr>CO 2 – CONTROL FLOW</vt:lpstr>
      <vt:lpstr>CO 3 – Methods, Searching, Sorting and Arrays</vt:lpstr>
      <vt:lpstr>CO 4-Object- Oriented Programming</vt:lpstr>
      <vt:lpstr>CO 5-Strings, Searching, Sorting and File handling</vt:lpstr>
      <vt:lpstr>CO 6-Collections and Streams</vt:lpstr>
      <vt:lpstr>Conclusion</vt:lpstr>
      <vt:lpstr>OUTPUTS - </vt:lpstr>
      <vt:lpstr>Geo Tag Photo-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LIBRARY MANAGEMENT SYSTEM Team No -1</dc:title>
  <dc:creator>TSP MADHURI</dc:creator>
  <cp:lastModifiedBy>Deekshitha I</cp:lastModifiedBy>
  <cp:revision>10</cp:revision>
  <dcterms:created xsi:type="dcterms:W3CDTF">2026-09-15T09:57:10Z</dcterms:created>
  <dcterms:modified xsi:type="dcterms:W3CDTF">2026-10-16T07:09:46Z</dcterms:modified>
</cp:coreProperties>
</file>